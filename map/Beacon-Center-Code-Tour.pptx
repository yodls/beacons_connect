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65d7f1db0c48a5" /><Relationship Type="http://schemas.openxmlformats.org/officeDocument/2006/relationships/extended-properties" Target="/docProps/app.xml" Id="Rc18fb20f98f34d12" /><Relationship Type="http://schemas.openxmlformats.org/officeDocument/2006/relationships/officeDocument" Target="/ppt/presentation.xml" Id="Rc9e429cf98fd46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b22bd1a313401d"/>
  </p:sldMasterIdLst>
  <p:notesMasterIdLst>
    <p:notesMasterId xmlns:r="http://schemas.openxmlformats.org/officeDocument/2006/relationships" r:id="R3a349b1568854601"/>
  </p:notesMasterIdLst>
  <p:sldIdLst>
    <p:sldId xmlns:r="http://schemas.openxmlformats.org/officeDocument/2006/relationships" id="256" r:id="R909e25f7231945cd"/>
    <p:sldId xmlns:r="http://schemas.openxmlformats.org/officeDocument/2006/relationships" id="257" r:id="Rdcdf1b6006c94c4f"/>
    <p:sldId xmlns:r="http://schemas.openxmlformats.org/officeDocument/2006/relationships" id="258" r:id="R7e1cbe4a78604127"/>
    <p:sldId xmlns:r="http://schemas.openxmlformats.org/officeDocument/2006/relationships" id="259" r:id="R0c64d71d36044d50"/>
    <p:sldId xmlns:r="http://schemas.openxmlformats.org/officeDocument/2006/relationships" id="260" r:id="R7875de4d42c84951"/>
    <p:sldId xmlns:r="http://schemas.openxmlformats.org/officeDocument/2006/relationships" id="261" r:id="R09e598479b3d4e13"/>
    <p:sldId xmlns:r="http://schemas.openxmlformats.org/officeDocument/2006/relationships" id="262" r:id="R91c4e54d6d764ac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57a93389944ca1" /><Relationship Type="http://schemas.openxmlformats.org/officeDocument/2006/relationships/slideMaster" Target="/ppt/slideMasters/slideMaster1.xml" Id="R7eb22bd1a313401d" /><Relationship Type="http://schemas.openxmlformats.org/officeDocument/2006/relationships/notesMaster" Target="/ppt/notesMasters/notesMaster1.xml" Id="R3a349b1568854601" /><Relationship Type="http://schemas.openxmlformats.org/officeDocument/2006/relationships/presProps" Target="/ppt/presProps.xml" Id="Raf6b1c2fcd3148d8" /><Relationship Type="http://schemas.openxmlformats.org/officeDocument/2006/relationships/tableStyles" Target="/ppt/tableStyles.xml" Id="R58717f41d3344685" /><Relationship Type="http://schemas.openxmlformats.org/officeDocument/2006/relationships/slide" Target="/ppt/slides/slide1.xml" Id="R909e25f7231945cd" /><Relationship Type="http://schemas.openxmlformats.org/officeDocument/2006/relationships/slide" Target="/ppt/slides/slide2.xml" Id="Rdcdf1b6006c94c4f" /><Relationship Type="http://schemas.openxmlformats.org/officeDocument/2006/relationships/slide" Target="/ppt/slides/slide3.xml" Id="R7e1cbe4a78604127" /><Relationship Type="http://schemas.openxmlformats.org/officeDocument/2006/relationships/slide" Target="/ppt/slides/slide4.xml" Id="R0c64d71d36044d50" /><Relationship Type="http://schemas.openxmlformats.org/officeDocument/2006/relationships/slide" Target="/ppt/slides/slide5.xml" Id="R7875de4d42c84951" /><Relationship Type="http://schemas.openxmlformats.org/officeDocument/2006/relationships/slide" Target="/ppt/slides/slide6.xml" Id="R09e598479b3d4e13" /><Relationship Type="http://schemas.openxmlformats.org/officeDocument/2006/relationships/slide" Target="/ppt/slides/slide7.xml" Id="R91c4e54d6d764a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b58cfed1c43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d6ed6a68c24986" /><Relationship Type="http://schemas.openxmlformats.org/officeDocument/2006/relationships/notesMaster" Target="/ppt/notesMasters/notesMaster1.xml" Id="Rd83aa83801f54c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0ef72ae24143e4" /><Relationship Type="http://schemas.openxmlformats.org/officeDocument/2006/relationships/notesMaster" Target="/ppt/notesMasters/notesMaster1.xml" Id="Ra73cf6f576244d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28d599a7b54efd" /><Relationship Type="http://schemas.openxmlformats.org/officeDocument/2006/relationships/notesMaster" Target="/ppt/notesMasters/notesMaster1.xml" Id="Ra5766fce01744c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89786f35cf4762" /><Relationship Type="http://schemas.openxmlformats.org/officeDocument/2006/relationships/notesMaster" Target="/ppt/notesMasters/notesMaster1.xml" Id="Rad5cc1e5997c4a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52d0f8b92f4990" /><Relationship Type="http://schemas.openxmlformats.org/officeDocument/2006/relationships/notesMaster" Target="/ppt/notesMasters/notesMaster1.xml" Id="Rbd90df07fefe48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af7475d7a7422c" /><Relationship Type="http://schemas.openxmlformats.org/officeDocument/2006/relationships/notesMaster" Target="/ppt/notesMasters/notesMaster1.xml" Id="R90fc5cc31d8f48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0a16e601da4521" /><Relationship Type="http://schemas.openxmlformats.org/officeDocument/2006/relationships/notesMaster" Target="/ppt/notesMasters/notesMaster1.xml" Id="Ra741f70625914c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uploaded beacon-center-homepage-mobile(1).html, Beacon Center Homepage Code Guide(1).pdf, and Screenshot 2026-09-30 010042(1).png. Exact selectors and behavior verified against HTML. Proposed backend names are suggestions, not existing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uploaded beacon-center-homepage-mobile(1).html, Beacon Center Homepage Code Guide(1).pdf, and Screenshot 2026-09-30 010042(1).png. Exact selectors and behavior verified against HTML. Proposed backend names are suggestions, not existing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uploaded beacon-center-homepage-mobile(1).html, Beacon Center Homepage Code Guide(1).pdf, and Screenshot 2026-09-30 010042(1).png. Exact selectors and behavior verified against HTML. Proposed backend names are suggestions, not existing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 map script sections 2, 5 and 6. The underlying map is .bcBase within .bcMap. Event popup #bcPopup is hidden in this screenshot and opens through showSummary(id), then showDetail(id). Demo filtering shows all events to any signed-in demo user; private markers are not proof of server authorization.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uploaded beacon-center-homepage-mobile(1).html, Beacon Center Homepage Code Guide(1).pdf, and Screenshot 2026-09-30 010042(1).png. Exact selectors and behavior verified against HTML. Proposed backend names are suggestions, not existing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HTML bottom nav and final page script. The Home/Map callout spans both scroll buttons and the intervening Games button; Games uses data-action="games" and is a placeholder as documented in the third callout.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uploaded beacon-center-homepage-mobile(1).html, Beacon Center Homepage Code Guide(1).pdf, and Screenshot 2026-09-30 010042(1).png. Exact selectors and behavior verified against HTML. Proposed backend names are suggestions, not existing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ee78eeaf54d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3d5ca01ebe4766" /><Relationship Type="http://schemas.openxmlformats.org/officeDocument/2006/relationships/slideLayout" Target="/ppt/slideLayouts/slideLayout1.xml" Id="R3280f12fe22649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80f12fe22649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6f5a72c184059" /><Relationship Type="http://schemas.openxmlformats.org/officeDocument/2006/relationships/image" Target="/ppt/media/image.png" Id="R98c8a89b1025460b" /><Relationship Type="http://schemas.openxmlformats.org/officeDocument/2006/relationships/notesSlide" Target="/ppt/notesSlides/notesSlide1.xml" Id="R1a2aa98351ff4b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c59a1b7da4cf8" /><Relationship Type="http://schemas.openxmlformats.org/officeDocument/2006/relationships/image" Target="/ppt/media/image2.png" Id="Rfaa48da911eb4cad" /><Relationship Type="http://schemas.openxmlformats.org/officeDocument/2006/relationships/notesSlide" Target="/ppt/notesSlides/notesSlide2.xml" Id="R97f8df5729de4c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223117afa4472" /><Relationship Type="http://schemas.openxmlformats.org/officeDocument/2006/relationships/image" Target="/ppt/media/image3.png" Id="R6727c75668c948d6" /><Relationship Type="http://schemas.openxmlformats.org/officeDocument/2006/relationships/notesSlide" Target="/ppt/notesSlides/notesSlide3.xml" Id="Rbe9892e7b4b641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cf11c3d4d4a4e" /><Relationship Type="http://schemas.openxmlformats.org/officeDocument/2006/relationships/image" Target="/ppt/media/image4.png" Id="R86d7eafa6cd44793" /><Relationship Type="http://schemas.openxmlformats.org/officeDocument/2006/relationships/notesSlide" Target="/ppt/notesSlides/notesSlide4.xml" Id="R4766b03d74f44c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ab82b143b4cf2" /><Relationship Type="http://schemas.openxmlformats.org/officeDocument/2006/relationships/image" Target="/ppt/media/image5.png" Id="R5747b82998bd4aff" /><Relationship Type="http://schemas.openxmlformats.org/officeDocument/2006/relationships/notesSlide" Target="/ppt/notesSlides/notesSlide5.xml" Id="Rbf1f105c987b4f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391d0aed640b3" /><Relationship Type="http://schemas.openxmlformats.org/officeDocument/2006/relationships/image" Target="/ppt/media/image6.png" Id="R5a199613c12b4725" /><Relationship Type="http://schemas.openxmlformats.org/officeDocument/2006/relationships/notesSlide" Target="/ppt/notesSlides/notesSlide6.xml" Id="R0aff064032be48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5eafe33a14edf" /><Relationship Type="http://schemas.openxmlformats.org/officeDocument/2006/relationships/notesSlide" Target="/ppt/notesSlides/notesSlide7.xml" Id="Rfecee08dbca240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88C2D-7A46-47F0-B016-C0793F59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Beacon Center: screenshot to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3DA6B-3DBA-45F6-A3AB-AD3271AA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rPr>
              <a:t>Exact names in the uploaded HTML. # = element ID    . = CSS class    () = JavaScript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580EB-4E35-4274-8713-11081C91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15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1  /  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8a89b1025460b"/>
          <a:srcRect xmlns:a="http://schemas.openxmlformats.org/drawingml/2006/main" l="4788" t="0" r="14501" b="0"/>
          <a:stretch xmlns:a="http://schemas.openxmlformats.org/drawingml/2006/main"/>
        </p:blipFill>
        <p:spPr>
          <a:xfrm xmlns:a="http://schemas.openxmlformats.org/drawingml/2006/main">
            <a:off x="476250" y="1571625"/>
            <a:ext cx="8572500" cy="658920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8AAC4-1C26-4C0D-98CA-06BDD814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17" y="1571625"/>
            <a:ext cx="8340025" cy="43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83884-94BA-43C0-AC5C-0C3CB6A5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48101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8AA"/>
            </a:solidFill>
          </a:ln>
        </p:spPr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947042" y="1789570"/>
            <a:ext cx="958958" cy="6869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8AA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59104-F03A-4767-BA69-07CE473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4505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rPr>
              <a:t>Page header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B9918-D629-47A7-BD0C-9CE1426E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57425"/>
            <a:ext cx="45053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header.topbar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.topbar-inner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Brand, search and account display.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BC21F-CE7A-4CAE-906E-C70301BE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17" y="2094693"/>
            <a:ext cx="8340025" cy="541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4B0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8494B-C62C-46F9-A7F6-96D4788B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0"/>
            <a:ext cx="4810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4B05"/>
            </a:solidFill>
          </a:ln>
        </p:spPr>
      </p: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947042" y="4619625"/>
            <a:ext cx="958958" cy="18121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34B05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7AC02-01EB-483F-B342-2D61CA3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24300"/>
            <a:ext cx="4505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rPr>
              <a:t>Campus map section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4773F-DC77-4FED-9FE8-9C7D8D31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45053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section#campus-map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#beaconMap is the widget root.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Includes the map and side panel.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E6E34-AAA0-4C5A-8E4D-9F8F6AC9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25" y="7615964"/>
            <a:ext cx="3923008" cy="450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4D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5F21A-45F1-48D6-9360-96F8ACE1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91250"/>
            <a:ext cx="48101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4DB0"/>
            </a:solidFill>
          </a:ln>
        </p:spPr>
      </p:sp>
      <p:cxnSp>
        <p:nvCxnSpPr>
          <p:cNvPr id="36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738533" y="6953250"/>
            <a:ext cx="3167467" cy="88792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4DB0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C0D46-E611-41EF-AC77-45E3DA16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305550"/>
            <a:ext cx="4505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rPr>
              <a:t>Bottom navigation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578FC-14E3-48B6-8D3A-77DC208E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734175"/>
            <a:ext cx="45053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nav.dock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Each button uses .dock-btn.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Actions use data-* attributes.</a:t>
            </a:r>
          </a:p>
        </p:txBody>
      </p:sp>
    </p:spTree>
    <p:extLst>
      <p:ext uri="{BB962C8B-B14F-4D97-AF65-F5344CB8AC3E}">
        <p14:creationId xmlns:p14="http://schemas.microsoft.com/office/powerpoint/2010/main" val="1900880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FCF66-F00D-4E15-9689-07A93564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Header: branding, search and account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C3B41-D288-4157-9A1E-BCFB0480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rPr>
              <a:t>The search works locally. Messages and notifications currently display a placeholder toast.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AD27E-206E-4979-ABA4-3B712EE2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15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2  /  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48da911eb4cad"/>
          <a:srcRect xmlns:a="http://schemas.openxmlformats.org/drawingml/2006/main" l="5472" t="0" r="14843" b="92834"/>
          <a:stretch xmlns:a="http://schemas.openxmlformats.org/drawingml/2006/main"/>
        </p:blipFill>
        <p:spPr>
          <a:xfrm xmlns:a="http://schemas.openxmlformats.org/drawingml/2006/main">
            <a:off x="571500" y="2143125"/>
            <a:ext cx="14049375" cy="78387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859DD-7F6D-47B4-8D01-2BD1AB28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76" y="2239601"/>
            <a:ext cx="3690222" cy="530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008FD-85F1-4B35-BAEE-F34343D7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29125"/>
            <a:ext cx="3333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8AA"/>
            </a:solidFill>
          </a:ln>
        </p:spPr>
      </p:sp>
      <p:cxnSp>
        <p:nvCxnSpPr>
          <p:cNvPr id="3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143125" y="2770221"/>
            <a:ext cx="369962" cy="165890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8AA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E5788-813C-476D-8615-D5B1B21F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rPr>
              <a:t>Brand and campus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1A5F1-A8F8-4AEF-B14C-FFF8ECE2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302895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.brand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.brand-mark / .brand-name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.campus-badge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The campus badge is a static display.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56C9E-82D5-4D6D-87A2-3E9F95AD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24" y="2263720"/>
            <a:ext cx="3135483" cy="47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4B0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3CF38-6C7D-4D07-B510-3AE5B5F6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29125"/>
            <a:ext cx="3333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4B05"/>
            </a:solidFill>
          </a:ln>
        </p:spPr>
      </p:sp>
      <p:cxnSp>
        <p:nvCxnSpPr>
          <p:cNvPr id="3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5791200" y="2734042"/>
            <a:ext cx="5344466" cy="169508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34B05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7EBEC-55D9-4CC0-B72A-6AD27D70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4342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rPr>
              <a:t>Search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48C82-3018-4CA5-B469-90B8C7A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972050"/>
            <a:ext cx="302895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[data-search-input]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Inside .search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Enter calls searchMap(text), then beaconMap.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focusPlace(name).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526E8-F037-408D-8E90-7B5E10BE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121" y="2227542"/>
            <a:ext cx="1061240" cy="518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4D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D8F58-F57C-4840-A323-5F57A68F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29125"/>
            <a:ext cx="3333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4DB0"/>
            </a:solidFill>
          </a:ln>
        </p:spPr>
      </p:sp>
      <p:cxnSp>
        <p:nvCxnSpPr>
          <p:cNvPr id="41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9439275" y="2746103"/>
            <a:ext cx="3939466" cy="16830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4DB0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1022F-E088-4D02-9E65-AC5472C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4342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rPr>
              <a:t>Message and bell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70FFA-9A31-4F47-B6B1-5F3B6BF9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302895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.icon-btn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data-action="chat"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data-action="notifications"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Both call showPlaceholder(). .badge holds the fixed 2.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08A5B-EED2-4F59-B9AB-7E4B54E2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076" y="2263720"/>
            <a:ext cx="470322" cy="4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84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A777D-BC5D-403E-844B-BB62BF78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429125"/>
            <a:ext cx="3333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84C"/>
            </a:solidFill>
          </a:ln>
        </p:spPr>
      </p:sp>
      <p:cxnSp>
        <p:nvCxnSpPr>
          <p:cNvPr id="46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13087350" y="2746102"/>
            <a:ext cx="1201887" cy="168302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84C"/>
            </a:solidFill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E2C2C-1E27-4788-B509-FECEA3A0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54342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8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84C"/>
                </a:solidFill>
                <a:latin typeface="Bitstream Charter"/>
                <a:ea typeface="Bitstream Charter"/>
                <a:cs typeface="Bitstream Charter"/>
              </a:rPr>
              <a:t>Student avatar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B7673-86D8-4E2E-B905-13A1CC24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72050"/>
            <a:ext cx="302895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.avatar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TC is fixed sample text.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This element is a &lt;div&gt; with no profile click handler.</a:t>
            </a:r>
          </a:p>
        </p:txBody>
      </p:sp>
    </p:spTree>
    <p:extLst>
      <p:ext uri="{BB962C8B-B14F-4D97-AF65-F5344CB8AC3E}">
        <p14:creationId xmlns:p14="http://schemas.microsoft.com/office/powerpoint/2010/main" val="1627304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69801-BD8C-4003-8C26-B90B0856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Map toolbar: title, status and flag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C32EC-772B-4E19-96ED-9B2E756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rPr>
              <a:t>This screenshot shows the signed-in demo state. A fresh page initially shows #bcStart.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9086E-FCAA-42F5-AE36-F200AB9A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15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3  /  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7c75668c948d6"/>
          <a:srcRect xmlns:a="http://schemas.openxmlformats.org/drawingml/2006/main" l="6019" t="7938" r="15458" b="80595"/>
          <a:stretch xmlns:a="http://schemas.openxmlformats.org/drawingml/2006/main"/>
        </p:blipFill>
        <p:spPr>
          <a:xfrm xmlns:a="http://schemas.openxmlformats.org/drawingml/2006/main">
            <a:off x="571500" y="2143125"/>
            <a:ext cx="14001750" cy="126845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440B4-2CB7-4D1B-9C87-E2D81A05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6" y="2326075"/>
            <a:ext cx="3110145" cy="926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F7863-B5C2-4DFC-8288-ED612F82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286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8AA"/>
            </a:solidFill>
          </a:ln>
        </p:spPr>
      </p:sp>
      <p:cxnSp>
        <p:nvCxnSpPr>
          <p:cNvPr id="26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285129" y="3253020"/>
            <a:ext cx="429496" cy="15094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8AA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C6A09-1553-459F-BF61-28CFECAD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98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rPr>
              <a:t>Title and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7D0C5-FD43-46E1-806A-4DC21997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39814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.bcToolbar contains the h1.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#bcStatus displays the blue status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announce(message) updates that 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809CB-CA40-4DAF-A903-31A1B789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415" y="2448041"/>
            <a:ext cx="1073305" cy="317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4B0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8B04B-6202-4AAC-A4B0-6988AC8A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4286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4B05"/>
            </a:solidFill>
          </a:ln>
        </p:spPr>
      </p:sp>
      <p:cxnSp>
        <p:nvCxnSpPr>
          <p:cNvPr id="3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7477125" y="2765154"/>
            <a:ext cx="4851943" cy="199734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34B05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3F477-B9A7-4F32-8FD3-EC3A141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6800"/>
            <a:ext cx="398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rPr>
              <a:t>Flag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A376A-EA89-440A-8428-527F4B13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05425"/>
            <a:ext cx="39814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#bcCount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renderMarkers() sets the text using myFlags().length and maxFlags (3).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93A3C-31A3-4D48-BD71-B3DA3FE0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1096" y="2374861"/>
            <a:ext cx="1451401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4D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069DA-9BD4-44D6-97F4-CD287D4E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62500"/>
            <a:ext cx="4286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4DB0"/>
            </a:solidFill>
          </a:ln>
        </p:spPr>
      </p:sp>
      <p:cxnSp>
        <p:nvCxnSpPr>
          <p:cNvPr id="36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2239625" y="2874924"/>
            <a:ext cx="1437171" cy="188757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4DB0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1A682-1C49-4980-A051-2077E62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876800"/>
            <a:ext cx="398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rPr>
              <a:t>Drop a flag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CD605-BCD0-4BCE-9498-E2602DB9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305425"/>
            <a:ext cx="39814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#bcDrop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.bcButton.bcPrimary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Click calls showCreateForm(). The form appears in #bcPanel.</a:t>
            </a:r>
          </a:p>
        </p:txBody>
      </p:sp>
    </p:spTree>
    <p:extLst>
      <p:ext uri="{BB962C8B-B14F-4D97-AF65-F5344CB8AC3E}">
        <p14:creationId xmlns:p14="http://schemas.microsoft.com/office/powerpoint/2010/main" val="703826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A9555-C23B-42FB-883C-078FA0FD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Map: labels, markers and private flags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97E95-82A1-427E-8DCF-6BC21C20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rPr>
              <a:t>The map drawing is SVG. Places and events are JavaScript data in the same HTML file.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B9FE0-E137-4E3C-9227-86CD9316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15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4  /  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7eafa6cd44793"/>
          <a:srcRect xmlns:a="http://schemas.openxmlformats.org/drawingml/2006/main" l="6019" t="19405" r="36047" b="10143"/>
          <a:stretch xmlns:a="http://schemas.openxmlformats.org/drawingml/2006/main"/>
        </p:blipFill>
        <p:spPr>
          <a:xfrm xmlns:a="http://schemas.openxmlformats.org/drawingml/2006/main">
            <a:off x="476250" y="1543050"/>
            <a:ext cx="8382000" cy="632361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D7CC2-61D5-4E4B-B8B3-02AE3DA8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575" y="5066063"/>
            <a:ext cx="791688" cy="227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37BA3-F311-4E57-9E69-86162429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66875"/>
            <a:ext cx="4762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8AA"/>
            </a:solidFill>
          </a:ln>
        </p:spPr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999263" y="2500313"/>
            <a:ext cx="6001987" cy="26795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8AA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2BEC9-8940-4FD2-97C3-E9E0D9B2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8117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rPr>
              <a:t>Place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3F4E0-E2EB-41B8-8ECF-80CC9D91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209800"/>
            <a:ext cx="4457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.bcPlace inside #bcLabels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data-place="Healey Library"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renderLabels() reads places.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BE67A-8C12-4FFA-9278-3445CA21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886" y="5145232"/>
            <a:ext cx="316675" cy="425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4B0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F49CB-7A0C-4956-920C-E1EC0A96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4762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4B05"/>
            </a:solidFill>
          </a:ln>
        </p:spPr>
      </p: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5780561" y="4691063"/>
            <a:ext cx="4220689" cy="66693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34B05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57A8D-180E-460D-8E9D-156F0998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7192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rPr>
              <a:t>Event marker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8C79D-1937-497D-9662-FC04DEB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00550"/>
            <a:ext cx="4457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.bcMarker inside #bcMarkers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data-event stores the event ID.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Click calls showSummary(id).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51F60-DCD6-4C55-BD38-9DF268F8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37" y="4699907"/>
            <a:ext cx="524494" cy="504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4D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08F31-2374-47E9-B20F-B36674B6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762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4DB0"/>
            </a:solidFill>
          </a:ln>
        </p:spPr>
      </p:sp>
      <p:cxnSp>
        <p:nvCxnSpPr>
          <p:cNvPr id="36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621731" y="4952258"/>
            <a:ext cx="3379519" cy="19295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4DB0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BEF49-6D4F-4CE6-A795-0B1BC32E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16267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rPr>
              <a:t>Private two-person flag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B2F78-6F55-42A7-AFC9-E995F784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591300"/>
            <a:ext cx="4457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.bcP2p changes marker size.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.bcPrivateBadge draws the lock.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events: type 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549983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DEFC0-7034-4A2E-9494-95A835B9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Side panel: the signed-in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FABF2-0D20-4190-B5EA-877F0170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rPr>
              <a:t>showHome() creates this panel content after the demo sign-in.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09AEC-DD25-415E-ACD5-38B7CC09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15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5  /  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7b82998bd4aff"/>
          <a:srcRect xmlns:a="http://schemas.openxmlformats.org/drawingml/2006/main" l="63953" t="19405" r="15458" b="52370"/>
          <a:stretch xmlns:a="http://schemas.openxmlformats.org/drawingml/2006/main"/>
        </p:blipFill>
        <p:spPr>
          <a:xfrm xmlns:a="http://schemas.openxmlformats.org/drawingml/2006/main">
            <a:off x="1238250" y="2095500"/>
            <a:ext cx="6000750" cy="51036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4AE14-2A43-4958-B95C-08C4AA3D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291" y="2374605"/>
            <a:ext cx="5442541" cy="2053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73F7E-DE56-4E61-929A-91F3C5AC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62125"/>
            <a:ext cx="5143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8AA"/>
            </a:solidFill>
          </a:ln>
        </p:spPr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979832" y="2595563"/>
            <a:ext cx="2640418" cy="80574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8AA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B94A5-998A-492C-9500-05A2B194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76425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rPr>
              <a:t>Panel container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51C44-1FE3-4CE3-B566-F2B95519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05050"/>
            <a:ext cx="4838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aside#bcPanel.bcSide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JavaScript variable: panel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showHome() fills panel.innerHTML.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532A3-E183-4A98-9856-42180D0C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35" y="4647314"/>
            <a:ext cx="5263116" cy="956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4B0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8E5AE-9968-4B98-B1C7-2E4B83A2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5143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4B05"/>
            </a:solidFill>
          </a:ln>
        </p:spPr>
      </p: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880151" y="4833938"/>
            <a:ext cx="2740099" cy="29184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34B05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136A2-1106-48DD-A3BF-976901F6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14800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rPr>
              <a:t>Your flags 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AC886-9F90-4EEC-8844-615E5F9F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43425"/>
            <a:ext cx="4838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.bcRow, created by rowHtml()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Count: myFlags().length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Limit: maxFlags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7E6EF-E962-458D-8FF0-A1E95D52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907" y="5883349"/>
            <a:ext cx="5183372" cy="81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4D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A9704-B933-4BC2-844F-76E9A715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5143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4DB0"/>
            </a:solidFill>
          </a:ln>
        </p:spPr>
      </p:sp>
      <p:cxnSp>
        <p:nvCxnSpPr>
          <p:cNvPr id="36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40279" y="6292038"/>
            <a:ext cx="2779971" cy="73264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4DB0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09695-E6F1-4A54-B55D-F7238EF6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05550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rPr>
              <a:t>Panel flag button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F5483-B620-4698-B501-F143A8AF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734175"/>
            <a:ext cx="4838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#bcHomeDrop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Calls showCreateForm().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Form ID: #bcCreate</a:t>
            </a:r>
          </a:p>
        </p:txBody>
      </p:sp>
    </p:spTree>
    <p:extLst>
      <p:ext uri="{BB962C8B-B14F-4D97-AF65-F5344CB8AC3E}">
        <p14:creationId xmlns:p14="http://schemas.microsoft.com/office/powerpoint/2010/main" val="1533480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F3858-2FB1-45FE-9107-FA199390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Bottom navigation: scroll links and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4A3D8-CD23-4200-ACEC-6014DE86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rPr>
              <a:t>The center + button opens the map’s flag flow. Games, Meetups and Hubs are placeholders.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7C806-3525-4DDC-AAF2-774C9ABC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15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6  /  7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99613c12b4725"/>
          <a:srcRect xmlns:a="http://schemas.openxmlformats.org/drawingml/2006/main" l="26813" t="91731" r="36252" b="1323"/>
          <a:stretch xmlns:a="http://schemas.openxmlformats.org/drawingml/2006/main"/>
        </p:blipFill>
        <p:spPr>
          <a:xfrm xmlns:a="http://schemas.openxmlformats.org/drawingml/2006/main">
            <a:off x="2000250" y="2286000"/>
            <a:ext cx="11239500" cy="1311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1B965-4EFC-41FD-9BA2-F02195A3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783" y="2390069"/>
            <a:ext cx="1019881" cy="110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B819C-3AC3-4999-9E16-0F84E40B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476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8AA"/>
            </a:solidFill>
          </a:ln>
        </p:spPr>
      </p: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809875" y="3493205"/>
            <a:ext cx="199849" cy="12692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8AA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84691-A74A-4698-A9D0-125CEC9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rPr>
              <a:t>Home and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B9898-DCE3-402A-A3D9-52D2C1ED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41719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data-scroll="top"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data-scroll="campus-map"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scrollToSection(id) scrolls.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setActiveNav(id) applies .is-active.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5403C-AF0B-4544-BAD9-EB2F258F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464" y="2410883"/>
            <a:ext cx="1040694" cy="1040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4B0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D2AC0-C2B0-46C8-ADAA-7F6381F2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62500"/>
            <a:ext cx="4476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4B05"/>
            </a:solidFill>
          </a:ln>
        </p:spPr>
      </p:sp>
      <p:cxnSp>
        <p:nvCxnSpPr>
          <p:cNvPr id="3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7620000" y="3451577"/>
            <a:ext cx="915811" cy="131092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34B05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FF9B4-B039-445C-802E-D360C862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8768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rPr>
              <a:t>Center + button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97132-FA2D-4C27-B50E-0B93822E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305425"/>
            <a:ext cx="41719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.dock-create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data-action="create"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actions.create calls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window.beaconMap.create().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Guests see showLogin().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F5435-4E0E-4084-8ED0-6BCECE0B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017" y="2390069"/>
            <a:ext cx="3122083" cy="110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4D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06062-E0C3-4D59-A173-E55FDD39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0"/>
            <a:ext cx="4476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4DB0"/>
            </a:solidFill>
          </a:ln>
        </p:spPr>
      </p:sp>
      <p:cxnSp>
        <p:nvCxnSpPr>
          <p:cNvPr id="40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1304059" y="3493205"/>
            <a:ext cx="1126067" cy="12692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4DB0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BB4D3-50CC-437B-9E06-D88A2FF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8768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rPr>
              <a:t>Other destinations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C99F9-C024-4D7D-A5D9-977D6FDB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05425"/>
            <a:ext cx="41719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data-action="games"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data-action="meetups"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data-action="hubs"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showPlaceholder() uses #toast.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.dock-count is the fixed 3.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AFF1C-EF09-4986-AE3B-8D814949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28" y="2390069"/>
            <a:ext cx="1019881" cy="110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AA"/>
            </a:solidFill>
          </a:ln>
        </p:spPr>
      </p:sp>
      <p:cxnSp>
        <p:nvCxnSpPr>
          <p:cNvPr id="44" name=""/>
          <p:cNvCxnSpPr>
            <a:stCxn xmlns:a="http://schemas.openxmlformats.org/drawingml/2006/main" id="20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809875" y="3493205"/>
            <a:ext cx="3863093" cy="12692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8AA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026F3-F2DB-4E10-BFEA-13E3C673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778" y="2390069"/>
            <a:ext cx="1186392" cy="110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4DB0"/>
            </a:solidFill>
          </a:ln>
        </p:spPr>
      </p:sp>
      <p:cxnSp>
        <p:nvCxnSpPr>
          <p:cNvPr id="46" name=""/>
          <p:cNvCxnSpPr>
            <a:stCxn xmlns:a="http://schemas.openxmlformats.org/drawingml/2006/main" id="2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882974" y="3493205"/>
            <a:ext cx="7547151" cy="12692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4DB0"/>
            </a:solidFill>
          </a:ln>
        </p:spPr>
      </p:cxnSp>
    </p:spTree>
    <p:extLst>
      <p:ext uri="{BB962C8B-B14F-4D97-AF65-F5344CB8AC3E}">
        <p14:creationId xmlns:p14="http://schemas.microsoft.com/office/powerpoint/2010/main" val="1994805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C0CAB-B477-4F85-80F2-ED1088B8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Backend connections: proposed Flask names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68BD0-B976-4E0D-BDAB-06340883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4D6479"/>
                </a:solidFill>
                <a:latin typeface="Bitstream Charter"/>
                <a:ea typeface="Bitstream Charter"/>
                <a:cs typeface="Bitstream Charter"/>
              </a:rPr>
              <a:t>No Flask routes, database models or API requests appear in the supplied HTML. These are suggested names.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F7701-84B7-46FC-B83F-9C9B14E4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15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7  /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1D505-1AD7-4A8F-868B-9BE1749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078AA"/>
                </a:solidFill>
                <a:latin typeface="Bitstream Charter"/>
                <a:ea typeface="Bitstream Charter"/>
                <a:cs typeface="Bitstream Charter"/>
              </a:rPr>
              <a:t>Sign-in and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566E9-D8EB-41A4-BB45-7657D9E3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Current: signedIn, showLogin(), .avatar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66DD6-252D-4DB5-AEA2-154496DB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Proposed: reuse Beacon Center’s existing session and user identity.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3621D-22C5-43C6-A066-92191115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B34B05"/>
                </a:solidFill>
                <a:latin typeface="Bitstream Charter"/>
                <a:ea typeface="Bitstream Charter"/>
                <a:cs typeface="Bitstream Charter"/>
              </a:rPr>
              <a:t>Load map flags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ECA44-56C4-487C-B59A-DC823D59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Current: events, places, renderMarkers()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7EF9A-4925-47C9-9959-20301A1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Proposed: GET /api/map/events and GET /api/map/places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D0B94-EFC8-452F-88BD-8271466C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6275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6D4DB0"/>
                </a:solidFill>
                <a:latin typeface="Bitstream Charter"/>
                <a:ea typeface="Bitstream Charter"/>
                <a:cs typeface="Bitstream Charter"/>
              </a:rPr>
              <a:t>Create or remove a flag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DFF4F-82B7-436D-A7DD-6DC62F5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862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Current: #bcSubmit, events.push(flag), #bcRemove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67451-290A-4392-9D0A-4E17E8F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815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Proposed: POST /api/map/events and DELETE /api/map/events/&lt;id&gt;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35627-6157-42BF-889D-880D36B7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8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6784C"/>
                </a:solidFill>
                <a:latin typeface="Bitstream Charter"/>
                <a:ea typeface="Bitstream Charter"/>
                <a:cs typeface="Bitstream Charter"/>
              </a:rPr>
              <a:t>Accept a two-person invite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987DA-62B1-400E-A9DE-1792EA89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483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Current: #bcConsent sets e.consent = 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14A8F-C0B7-4889-9D43-7248CD72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436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2C46"/>
                </a:solidFill>
                <a:latin typeface="Bitstream Charter"/>
                <a:ea typeface="Bitstream Charter"/>
                <a:cs typeface="Bitstream Charter"/>
              </a:rPr>
              <a:t>Proposed: POST /api/map/events/&lt;id&gt;/accept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806D1-CEEA-4E43-9C1C-E3568486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48550"/>
            <a:ext cx="1390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6500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76500D"/>
                </a:solidFill>
                <a:latin typeface="Bitstream Charter"/>
                <a:ea typeface="Bitstream Charter"/>
                <a:cs typeface="Bitstream Charter"/>
              </a:rPr>
              <a:t>The server should check ownership, group membership, consent and flag limits. The current demo shows every event to any signed-in demo user.</a:t>
            </a:r>
          </a:p>
        </p:txBody>
      </p:sp>
    </p:spTree>
    <p:extLst>
      <p:ext uri="{BB962C8B-B14F-4D97-AF65-F5344CB8AC3E}">
        <p14:creationId xmlns:p14="http://schemas.microsoft.com/office/powerpoint/2010/main" val="1787596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2026-09-30T05:12:10.6360000Z</dcterms:created>
  <dcterms:modified xsi:type="dcterms:W3CDTF">2026-09-30T05:12:10.6360000Z</dcterms:modified>
</coreProperties>
</file>